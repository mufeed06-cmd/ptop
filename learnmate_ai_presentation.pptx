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(20 SECONDS):</a:t>
            </a:r>
          </a:p>
          <a:p/>
          <a:p>
            <a:r>
              <a:t>Hello judges! We are team Nova Stack, presenting LearnMate AI. Most online learning treats education like a firehose. LearnMate AI flips the script—it teaches strictly within your available time budget, pinpoints exactly what you didn't understand, and reconstructs the next lesson to fix your cognitive blind spots.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(20 SECONDS):</a:t>
            </a:r>
          </a:p>
          <a:p/>
          <a:p>
            <a:r>
              <a:t>Modern learners have limited windows to study, yet existing platforms offer rigid hour-long tutorials that ignore your schedule. On the other hand, generic AI chatbots are completely amnesic—they don't measure mastery or remember past errors. Students fall through the cracks without targeted feedback.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(20 SECONDS):</a:t>
            </a:r>
          </a:p>
          <a:p/>
          <a:p>
            <a:r>
              <a:t>LearnMate AI solves this by giving complete agency back to the learner. You type any topic, choose your time budget from 6 to 60 minutes, and select English, Telugu, or Hindi. LearnMate immediately portions out and synthesizes a high-yield, 6-section lesson guaranteed to respect your schedule.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(20 SECONDS):</a:t>
            </a:r>
          </a:p>
          <a:p/>
          <a:p>
            <a:r>
              <a:t>Here is our core architectural philosophy: deterministic code makes pedagogical decisions, while Gemini provides rich explanations. After every sprint, a diagnostic quiz evaluates understanding. If concept mastery dips below 0.6, our engine catches it and restructures the very next lesson around that misconception.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(20 SECONDS):</a:t>
            </a:r>
          </a:p>
          <a:p/>
          <a:p>
            <a:r>
              <a:t>Under the hood, LearnMate is engineered for resilience. We combine a responsive Streamlit UI with interactive canvas micro-simulators. Gemini runs in JSON mode validated strictly through Pydantic with automatic retry guards, while SQLite maintains concept mastery using an exponential moving average formula.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(20 SECONDS):</a:t>
            </a:r>
          </a:p>
          <a:p/>
          <a:p>
            <a:r>
              <a:t>In our live demo, a student takes a 15-minute Python sprint and assumes range(0, 5) includes 5. The engine instantly isolates range_bounds. The adaptive lesson then deploys a dedicated 'Your Mistake' breakdown, a step-by-step trace table, and an interactive stepper. And this works dynamically for any topic typed.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(20 SECONDS):</a:t>
            </a:r>
          </a:p>
          <a:p/>
          <a:p>
            <a:r>
              <a:t>LearnMate bridges the gap between passive video streaming and expensive private tutoring. Looking ahead, we're expanding our generic step-visualizer components, onboarding more Indian regional languages, and building a classroom dashboard for teachers. Thank you, and try our live demo today!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4572000" cy="365760"/>
          </a:xfrm>
          <a:prstGeom prst="rect">
            <a:avLst/>
          </a:prstGeom>
          <a:noFill/>
        </p:spPr>
        <p:txBody>
          <a:bodyPr wrap="square">
            <a:spAutoFit/>
          </a:bodyPr>
          <a:lstStyle/>
          <a:p>
            <a:pPr>
              <a:defRPr sz="1100" b="1">
                <a:solidFill>
                  <a:srgbClr val="38BDF8"/>
                </a:solidFill>
              </a:defRPr>
            </a:pPr>
            <a:r>
              <a:t>✦ TITLE &amp; VISION  |  SLIDE 1 OF 7</a:t>
            </a:r>
          </a:p>
        </p:txBody>
      </p:sp>
      <p:sp>
        <p:nvSpPr>
          <p:cNvPr id="4" name="TextBox 3"/>
          <p:cNvSpPr txBox="1"/>
          <p:nvPr/>
        </p:nvSpPr>
        <p:spPr>
          <a:xfrm>
            <a:off x="6858000" y="411480"/>
            <a:ext cx="4572000" cy="365760"/>
          </a:xfrm>
          <a:prstGeom prst="rect">
            <a:avLst/>
          </a:prstGeom>
          <a:noFill/>
        </p:spPr>
        <p:txBody>
          <a:bodyPr wrap="square">
            <a:spAutoFit/>
          </a:bodyPr>
          <a:lstStyle/>
          <a:p>
            <a:pPr algn="r">
              <a:defRPr sz="1000" b="1">
                <a:solidFill>
                  <a:srgbClr val="94A3B8"/>
                </a:solidFill>
              </a:defRPr>
            </a:pPr>
            <a:r>
              <a:t>TEAM NOVA STACK  •  PROMPT TO PRODUCTION</a:t>
            </a:r>
          </a:p>
        </p:txBody>
      </p:sp>
      <p:sp>
        <p:nvSpPr>
          <p:cNvPr id="5" name="TextBox 4"/>
          <p:cNvSpPr txBox="1"/>
          <p:nvPr/>
        </p:nvSpPr>
        <p:spPr>
          <a:xfrm>
            <a:off x="731520" y="822960"/>
            <a:ext cx="10698480" cy="1188720"/>
          </a:xfrm>
          <a:prstGeom prst="rect">
            <a:avLst/>
          </a:prstGeom>
          <a:noFill/>
        </p:spPr>
        <p:txBody>
          <a:bodyPr wrap="square">
            <a:spAutoFit/>
          </a:bodyPr>
          <a:lstStyle/>
          <a:p>
            <a:pPr>
              <a:defRPr sz="3600" b="1">
                <a:solidFill>
                  <a:srgbClr val="F8FAFC"/>
                </a:solidFill>
              </a:defRPr>
            </a:pPr>
            <a:r>
              <a:t>LearnMate AI</a:t>
            </a:r>
          </a:p>
          <a:p>
            <a:pPr>
              <a:spcBef>
                <a:spcPts val="400"/>
              </a:spcBef>
              <a:defRPr sz="1600">
                <a:solidFill>
                  <a:srgbClr val="38BDF8"/>
                </a:solidFill>
              </a:defRPr>
            </a:pPr>
            <a:r>
              <a:t>The Adaptive Micro-Sprint Mentor</a:t>
            </a:r>
          </a:p>
        </p:txBody>
      </p:sp>
      <p:sp>
        <p:nvSpPr>
          <p:cNvPr id="6" name="Rounded Rectangle 5"/>
          <p:cNvSpPr/>
          <p:nvPr/>
        </p:nvSpPr>
        <p:spPr>
          <a:xfrm>
            <a:off x="731520" y="2194560"/>
            <a:ext cx="5212080" cy="4114800"/>
          </a:xfrm>
          <a:prstGeom prst="roundRect">
            <a:avLst/>
          </a:prstGeom>
          <a:solidFill>
            <a:srgbClr val="111827"/>
          </a:solidFill>
          <a:ln w="1905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77440"/>
            <a:ext cx="4846320" cy="3749039"/>
          </a:xfrm>
          <a:prstGeom prst="rect">
            <a:avLst/>
          </a:prstGeom>
          <a:noFill/>
        </p:spPr>
        <p:txBody>
          <a:bodyPr wrap="square">
            <a:spAutoFit/>
          </a:bodyPr>
          <a:lstStyle/>
          <a:p>
            <a:pPr>
              <a:defRPr sz="1100" b="1">
                <a:solidFill>
                  <a:srgbClr val="818CF8"/>
                </a:solidFill>
              </a:defRPr>
            </a:pPr>
            <a:r>
              <a:t>KEY TAKEAWAYS</a:t>
            </a:r>
          </a:p>
          <a:p>
            <a:pPr>
              <a:lnSpc>
                <a:spcPct val="125000"/>
              </a:lnSpc>
              <a:spcBef>
                <a:spcPts val="2000"/>
              </a:spcBef>
              <a:defRPr sz="1550">
                <a:solidFill>
                  <a:srgbClr val="F8FAFC"/>
                </a:solidFill>
              </a:defRPr>
            </a:pPr>
            <a:r>
              <a:t>•  Time-boxed adaptive mentor tailored to your schedule.</a:t>
            </a:r>
          </a:p>
          <a:p>
            <a:pPr>
              <a:lnSpc>
                <a:spcPct val="125000"/>
              </a:lnSpc>
              <a:spcBef>
                <a:spcPts val="2000"/>
              </a:spcBef>
              <a:defRPr sz="1550">
                <a:solidFill>
                  <a:srgbClr val="F8FAFC"/>
                </a:solidFill>
              </a:defRPr>
            </a:pPr>
            <a:r>
              <a:t>•  Measures blind spots and diagnoses cognitive misconceptions.</a:t>
            </a:r>
          </a:p>
          <a:p>
            <a:pPr>
              <a:lnSpc>
                <a:spcPct val="125000"/>
              </a:lnSpc>
              <a:spcBef>
                <a:spcPts val="2000"/>
              </a:spcBef>
              <a:defRPr sz="1550">
                <a:solidFill>
                  <a:srgbClr val="F8FAFC"/>
                </a:solidFill>
              </a:defRPr>
            </a:pPr>
            <a:r>
              <a:t>•  Rebuilds future lessons to cure learning gaps.</a:t>
            </a:r>
          </a:p>
        </p:txBody>
      </p:sp>
      <p:sp>
        <p:nvSpPr>
          <p:cNvPr id="8" name="Rounded Rectangle 7"/>
          <p:cNvSpPr/>
          <p:nvPr/>
        </p:nvSpPr>
        <p:spPr>
          <a:xfrm>
            <a:off x="6217920" y="2194560"/>
            <a:ext cx="5212080" cy="4114800"/>
          </a:xfrm>
          <a:prstGeom prst="roundRect">
            <a:avLst/>
          </a:prstGeom>
          <a:solidFill>
            <a:srgbClr val="111827"/>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2377440"/>
            <a:ext cx="4846320" cy="3749039"/>
          </a:xfrm>
          <a:prstGeom prst="rect">
            <a:avLst/>
          </a:prstGeom>
          <a:noFill/>
        </p:spPr>
        <p:txBody>
          <a:bodyPr wrap="square">
            <a:spAutoFit/>
          </a:bodyPr>
          <a:lstStyle/>
          <a:p>
            <a:pPr>
              <a:defRPr sz="1100" b="1">
                <a:solidFill>
                  <a:srgbClr val="38BDF8"/>
                </a:solidFill>
              </a:defRPr>
            </a:pPr>
            <a:r>
              <a:t>✦ System Core Concept</a:t>
            </a:r>
          </a:p>
          <a:p>
            <a:pPr>
              <a:spcBef>
                <a:spcPts val="1200"/>
              </a:spcBef>
              <a:defRPr sz="1400" b="1">
                <a:solidFill>
                  <a:srgbClr val="34D399"/>
                </a:solidFill>
              </a:defRPr>
            </a:pPr>
            <a:r>
              <a:t>⏱️ Time-Boxed</a:t>
            </a:r>
          </a:p>
          <a:p>
            <a:pPr>
              <a:spcBef>
                <a:spcPts val="200"/>
              </a:spcBef>
              <a:defRPr sz="1200">
                <a:solidFill>
                  <a:srgbClr val="94A3B8"/>
                </a:solidFill>
              </a:defRPr>
            </a:pPr>
            <a:r>
              <a:t>Guaranteed completion within 6 to 60 minutes</a:t>
            </a:r>
          </a:p>
          <a:p>
            <a:pPr>
              <a:spcBef>
                <a:spcPts val="1200"/>
              </a:spcBef>
              <a:defRPr sz="1400" b="1">
                <a:solidFill>
                  <a:srgbClr val="34D399"/>
                </a:solidFill>
              </a:defRPr>
            </a:pPr>
            <a:r>
              <a:t>🧠 Adaptive Engine</a:t>
            </a:r>
          </a:p>
          <a:p>
            <a:pPr>
              <a:spcBef>
                <a:spcPts val="200"/>
              </a:spcBef>
              <a:defRPr sz="1200">
                <a:solidFill>
                  <a:srgbClr val="94A3B8"/>
                </a:solidFill>
              </a:defRPr>
            </a:pPr>
            <a:r>
              <a:t>Detects weak concepts (&lt; 0.6) and adjusts next lesson</a:t>
            </a:r>
          </a:p>
          <a:p>
            <a:pPr>
              <a:spcBef>
                <a:spcPts val="1200"/>
              </a:spcBef>
              <a:defRPr sz="1400" b="1">
                <a:solidFill>
                  <a:srgbClr val="34D399"/>
                </a:solidFill>
              </a:defRPr>
            </a:pPr>
            <a:r>
              <a:t>🗣️ Multilingual</a:t>
            </a:r>
          </a:p>
          <a:p>
            <a:pPr>
              <a:spcBef>
                <a:spcPts val="200"/>
              </a:spcBef>
              <a:defRPr sz="1200">
                <a:solidFill>
                  <a:srgbClr val="94A3B8"/>
                </a:solidFill>
              </a:defRPr>
            </a:pPr>
            <a:r>
              <a:t>English, Telugu, Hindi vernacular concept explanations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4572000" cy="365760"/>
          </a:xfrm>
          <a:prstGeom prst="rect">
            <a:avLst/>
          </a:prstGeom>
          <a:noFill/>
        </p:spPr>
        <p:txBody>
          <a:bodyPr wrap="square">
            <a:spAutoFit/>
          </a:bodyPr>
          <a:lstStyle/>
          <a:p>
            <a:pPr>
              <a:defRPr sz="1100" b="1">
                <a:solidFill>
                  <a:srgbClr val="38BDF8"/>
                </a:solidFill>
              </a:defRPr>
            </a:pPr>
            <a:r>
              <a:t>✦ THE PROBLEM  |  SLIDE 2 OF 7</a:t>
            </a:r>
          </a:p>
        </p:txBody>
      </p:sp>
      <p:sp>
        <p:nvSpPr>
          <p:cNvPr id="4" name="TextBox 3"/>
          <p:cNvSpPr txBox="1"/>
          <p:nvPr/>
        </p:nvSpPr>
        <p:spPr>
          <a:xfrm>
            <a:off x="6858000" y="411480"/>
            <a:ext cx="4572000" cy="365760"/>
          </a:xfrm>
          <a:prstGeom prst="rect">
            <a:avLst/>
          </a:prstGeom>
          <a:noFill/>
        </p:spPr>
        <p:txBody>
          <a:bodyPr wrap="square">
            <a:spAutoFit/>
          </a:bodyPr>
          <a:lstStyle/>
          <a:p>
            <a:pPr algn="r">
              <a:defRPr sz="1000" b="1">
                <a:solidFill>
                  <a:srgbClr val="94A3B8"/>
                </a:solidFill>
              </a:defRPr>
            </a:pPr>
            <a:r>
              <a:t>TEAM NOVA STACK  •  PROMPT TO PRODUCTION</a:t>
            </a:r>
          </a:p>
        </p:txBody>
      </p:sp>
      <p:sp>
        <p:nvSpPr>
          <p:cNvPr id="5" name="TextBox 4"/>
          <p:cNvSpPr txBox="1"/>
          <p:nvPr/>
        </p:nvSpPr>
        <p:spPr>
          <a:xfrm>
            <a:off x="731520" y="822960"/>
            <a:ext cx="10698480" cy="1188720"/>
          </a:xfrm>
          <a:prstGeom prst="rect">
            <a:avLst/>
          </a:prstGeom>
          <a:noFill/>
        </p:spPr>
        <p:txBody>
          <a:bodyPr wrap="square">
            <a:spAutoFit/>
          </a:bodyPr>
          <a:lstStyle/>
          <a:p>
            <a:pPr>
              <a:defRPr sz="3600" b="1">
                <a:solidFill>
                  <a:srgbClr val="F8FAFC"/>
                </a:solidFill>
              </a:defRPr>
            </a:pPr>
            <a:r>
              <a:t>Why Self-Learning Breaks</a:t>
            </a:r>
          </a:p>
          <a:p>
            <a:pPr>
              <a:spcBef>
                <a:spcPts val="400"/>
              </a:spcBef>
              <a:defRPr sz="1600">
                <a:solidFill>
                  <a:srgbClr val="38BDF8"/>
                </a:solidFill>
              </a:defRPr>
            </a:pPr>
            <a:r>
              <a:t>The Chasm Between Content and Retention</a:t>
            </a:r>
          </a:p>
        </p:txBody>
      </p:sp>
      <p:sp>
        <p:nvSpPr>
          <p:cNvPr id="6" name="Rounded Rectangle 5"/>
          <p:cNvSpPr/>
          <p:nvPr/>
        </p:nvSpPr>
        <p:spPr>
          <a:xfrm>
            <a:off x="731520" y="2194560"/>
            <a:ext cx="5212080" cy="4114800"/>
          </a:xfrm>
          <a:prstGeom prst="roundRect">
            <a:avLst/>
          </a:prstGeom>
          <a:solidFill>
            <a:srgbClr val="111827"/>
          </a:solidFill>
          <a:ln w="1905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77440"/>
            <a:ext cx="4846320" cy="3749039"/>
          </a:xfrm>
          <a:prstGeom prst="rect">
            <a:avLst/>
          </a:prstGeom>
          <a:noFill/>
        </p:spPr>
        <p:txBody>
          <a:bodyPr wrap="square">
            <a:spAutoFit/>
          </a:bodyPr>
          <a:lstStyle/>
          <a:p>
            <a:pPr>
              <a:defRPr sz="1100" b="1">
                <a:solidFill>
                  <a:srgbClr val="818CF8"/>
                </a:solidFill>
              </a:defRPr>
            </a:pPr>
            <a:r>
              <a:t>KEY TAKEAWAYS</a:t>
            </a:r>
          </a:p>
          <a:p>
            <a:pPr>
              <a:lnSpc>
                <a:spcPct val="125000"/>
              </a:lnSpc>
              <a:spcBef>
                <a:spcPts val="2000"/>
              </a:spcBef>
              <a:defRPr sz="1550">
                <a:solidFill>
                  <a:srgbClr val="F8FAFC"/>
                </a:solidFill>
              </a:defRPr>
            </a:pPr>
            <a:r>
              <a:t>•  Static courses ignore learners' actual available minutes.</a:t>
            </a:r>
          </a:p>
          <a:p>
            <a:pPr>
              <a:lnSpc>
                <a:spcPct val="125000"/>
              </a:lnSpc>
              <a:spcBef>
                <a:spcPts val="2000"/>
              </a:spcBef>
              <a:defRPr sz="1550">
                <a:solidFill>
                  <a:srgbClr val="F8FAFC"/>
                </a:solidFill>
              </a:defRPr>
            </a:pPr>
            <a:r>
              <a:t>•  Generic LLM chatbots forget previous student mistakes.</a:t>
            </a:r>
          </a:p>
          <a:p>
            <a:pPr>
              <a:lnSpc>
                <a:spcPct val="125000"/>
              </a:lnSpc>
              <a:spcBef>
                <a:spcPts val="2000"/>
              </a:spcBef>
              <a:defRPr sz="1550">
                <a:solidFill>
                  <a:srgbClr val="F8FAFC"/>
                </a:solidFill>
              </a:defRPr>
            </a:pPr>
            <a:r>
              <a:t>•  Passive reading fails to detect cognitive blindspots.</a:t>
            </a:r>
          </a:p>
        </p:txBody>
      </p:sp>
      <p:sp>
        <p:nvSpPr>
          <p:cNvPr id="8" name="Rounded Rectangle 7"/>
          <p:cNvSpPr/>
          <p:nvPr/>
        </p:nvSpPr>
        <p:spPr>
          <a:xfrm>
            <a:off x="6217920" y="2194560"/>
            <a:ext cx="5212080" cy="4114800"/>
          </a:xfrm>
          <a:prstGeom prst="roundRect">
            <a:avLst/>
          </a:prstGeom>
          <a:solidFill>
            <a:srgbClr val="111827"/>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2377440"/>
            <a:ext cx="4846320" cy="3749039"/>
          </a:xfrm>
          <a:prstGeom prst="rect">
            <a:avLst/>
          </a:prstGeom>
          <a:noFill/>
        </p:spPr>
        <p:txBody>
          <a:bodyPr wrap="square">
            <a:spAutoFit/>
          </a:bodyPr>
          <a:lstStyle/>
          <a:p>
            <a:pPr>
              <a:defRPr sz="1100" b="1">
                <a:solidFill>
                  <a:srgbClr val="38BDF8"/>
                </a:solidFill>
              </a:defRPr>
            </a:pPr>
            <a:r>
              <a:t>⚠️ The Status Quo Breakdown</a:t>
            </a:r>
          </a:p>
          <a:p>
            <a:pPr>
              <a:spcBef>
                <a:spcPts val="1200"/>
              </a:spcBef>
              <a:defRPr sz="1400" b="1">
                <a:solidFill>
                  <a:srgbClr val="34D399"/>
                </a:solidFill>
              </a:defRPr>
            </a:pPr>
            <a:r>
              <a:t>❌ 4-Hour Videos</a:t>
            </a:r>
          </a:p>
          <a:p>
            <a:pPr>
              <a:spcBef>
                <a:spcPts val="200"/>
              </a:spcBef>
              <a:defRPr sz="1200">
                <a:solidFill>
                  <a:srgbClr val="94A3B8"/>
                </a:solidFill>
              </a:defRPr>
            </a:pPr>
            <a:r>
              <a:t>Learners run out of time and abandon courses mid-way</a:t>
            </a:r>
          </a:p>
          <a:p>
            <a:pPr>
              <a:spcBef>
                <a:spcPts val="1200"/>
              </a:spcBef>
              <a:defRPr sz="1400" b="1">
                <a:solidFill>
                  <a:srgbClr val="34D399"/>
                </a:solidFill>
              </a:defRPr>
            </a:pPr>
            <a:r>
              <a:t>❌ Amnesic Chatbots</a:t>
            </a:r>
          </a:p>
          <a:p>
            <a:pPr>
              <a:spcBef>
                <a:spcPts val="200"/>
              </a:spcBef>
              <a:defRPr sz="1200">
                <a:solidFill>
                  <a:srgbClr val="94A3B8"/>
                </a:solidFill>
              </a:defRPr>
            </a:pPr>
            <a:r>
              <a:t>No memory of previous mistakes or structured progress</a:t>
            </a:r>
          </a:p>
          <a:p>
            <a:pPr>
              <a:spcBef>
                <a:spcPts val="1200"/>
              </a:spcBef>
              <a:defRPr sz="1400" b="1">
                <a:solidFill>
                  <a:srgbClr val="34D399"/>
                </a:solidFill>
              </a:defRPr>
            </a:pPr>
            <a:r>
              <a:t>❌ Hidden Misconceptions</a:t>
            </a:r>
          </a:p>
          <a:p>
            <a:pPr>
              <a:spcBef>
                <a:spcPts val="200"/>
              </a:spcBef>
              <a:defRPr sz="1200">
                <a:solidFill>
                  <a:srgbClr val="94A3B8"/>
                </a:solidFill>
              </a:defRPr>
            </a:pPr>
            <a:r>
              <a:t>Silent failure on foundational syntax &amp; boundary rules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4572000" cy="365760"/>
          </a:xfrm>
          <a:prstGeom prst="rect">
            <a:avLst/>
          </a:prstGeom>
          <a:noFill/>
        </p:spPr>
        <p:txBody>
          <a:bodyPr wrap="square">
            <a:spAutoFit/>
          </a:bodyPr>
          <a:lstStyle/>
          <a:p>
            <a:pPr>
              <a:defRPr sz="1100" b="1">
                <a:solidFill>
                  <a:srgbClr val="38BDF8"/>
                </a:solidFill>
              </a:defRPr>
            </a:pPr>
            <a:r>
              <a:t>✦ THE SOLUTION  |  SLIDE 3 OF 7</a:t>
            </a:r>
          </a:p>
        </p:txBody>
      </p:sp>
      <p:sp>
        <p:nvSpPr>
          <p:cNvPr id="4" name="TextBox 3"/>
          <p:cNvSpPr txBox="1"/>
          <p:nvPr/>
        </p:nvSpPr>
        <p:spPr>
          <a:xfrm>
            <a:off x="6858000" y="411480"/>
            <a:ext cx="4572000" cy="365760"/>
          </a:xfrm>
          <a:prstGeom prst="rect">
            <a:avLst/>
          </a:prstGeom>
          <a:noFill/>
        </p:spPr>
        <p:txBody>
          <a:bodyPr wrap="square">
            <a:spAutoFit/>
          </a:bodyPr>
          <a:lstStyle/>
          <a:p>
            <a:pPr algn="r">
              <a:defRPr sz="1000" b="1">
                <a:solidFill>
                  <a:srgbClr val="94A3B8"/>
                </a:solidFill>
              </a:defRPr>
            </a:pPr>
            <a:r>
              <a:t>TEAM NOVA STACK  •  PROMPT TO PRODUCTION</a:t>
            </a:r>
          </a:p>
        </p:txBody>
      </p:sp>
      <p:sp>
        <p:nvSpPr>
          <p:cNvPr id="5" name="TextBox 4"/>
          <p:cNvSpPr txBox="1"/>
          <p:nvPr/>
        </p:nvSpPr>
        <p:spPr>
          <a:xfrm>
            <a:off x="731520" y="822960"/>
            <a:ext cx="10698480" cy="1188720"/>
          </a:xfrm>
          <a:prstGeom prst="rect">
            <a:avLst/>
          </a:prstGeom>
          <a:noFill/>
        </p:spPr>
        <p:txBody>
          <a:bodyPr wrap="square">
            <a:spAutoFit/>
          </a:bodyPr>
          <a:lstStyle/>
          <a:p>
            <a:pPr>
              <a:defRPr sz="3600" b="1">
                <a:solidFill>
                  <a:srgbClr val="F8FAFC"/>
                </a:solidFill>
              </a:defRPr>
            </a:pPr>
            <a:r>
              <a:t>Time-Boxed, Personalized Mentorship</a:t>
            </a:r>
          </a:p>
          <a:p>
            <a:pPr>
              <a:spcBef>
                <a:spcPts val="400"/>
              </a:spcBef>
              <a:defRPr sz="1600">
                <a:solidFill>
                  <a:srgbClr val="38BDF8"/>
                </a:solidFill>
              </a:defRPr>
            </a:pPr>
            <a:r>
              <a:t>Learner Agency with Algorithmic Precision</a:t>
            </a:r>
          </a:p>
        </p:txBody>
      </p:sp>
      <p:sp>
        <p:nvSpPr>
          <p:cNvPr id="6" name="Rounded Rectangle 5"/>
          <p:cNvSpPr/>
          <p:nvPr/>
        </p:nvSpPr>
        <p:spPr>
          <a:xfrm>
            <a:off x="731520" y="2194560"/>
            <a:ext cx="5212080" cy="4114800"/>
          </a:xfrm>
          <a:prstGeom prst="roundRect">
            <a:avLst/>
          </a:prstGeom>
          <a:solidFill>
            <a:srgbClr val="111827"/>
          </a:solidFill>
          <a:ln w="1905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77440"/>
            <a:ext cx="4846320" cy="3749039"/>
          </a:xfrm>
          <a:prstGeom prst="rect">
            <a:avLst/>
          </a:prstGeom>
          <a:noFill/>
        </p:spPr>
        <p:txBody>
          <a:bodyPr wrap="square">
            <a:spAutoFit/>
          </a:bodyPr>
          <a:lstStyle/>
          <a:p>
            <a:pPr>
              <a:defRPr sz="1100" b="1">
                <a:solidFill>
                  <a:srgbClr val="818CF8"/>
                </a:solidFill>
              </a:defRPr>
            </a:pPr>
            <a:r>
              <a:t>KEY TAKEAWAYS</a:t>
            </a:r>
          </a:p>
          <a:p>
            <a:pPr>
              <a:lnSpc>
                <a:spcPct val="125000"/>
              </a:lnSpc>
              <a:spcBef>
                <a:spcPts val="2000"/>
              </a:spcBef>
              <a:defRPr sz="1550">
                <a:solidFill>
                  <a:srgbClr val="F8FAFC"/>
                </a:solidFill>
              </a:defRPr>
            </a:pPr>
            <a:r>
              <a:t>•  Learner inputs topic, minutes, level, and language.</a:t>
            </a:r>
          </a:p>
          <a:p>
            <a:pPr>
              <a:lnSpc>
                <a:spcPct val="125000"/>
              </a:lnSpc>
              <a:spcBef>
                <a:spcPts val="2000"/>
              </a:spcBef>
              <a:defRPr sz="1550">
                <a:solidFill>
                  <a:srgbClr val="F8FAFC"/>
                </a:solidFill>
              </a:defRPr>
            </a:pPr>
            <a:r>
              <a:t>•  Multilingual mentoring across English, Telugu, and Hindi.</a:t>
            </a:r>
          </a:p>
          <a:p>
            <a:pPr>
              <a:lnSpc>
                <a:spcPct val="125000"/>
              </a:lnSpc>
              <a:spcBef>
                <a:spcPts val="2000"/>
              </a:spcBef>
              <a:defRPr sz="1550">
                <a:solidFill>
                  <a:srgbClr val="F8FAFC"/>
                </a:solidFill>
              </a:defRPr>
            </a:pPr>
            <a:r>
              <a:t>•  Strictly time-boxed 6-section personalized curriculum.</a:t>
            </a:r>
          </a:p>
        </p:txBody>
      </p:sp>
      <p:sp>
        <p:nvSpPr>
          <p:cNvPr id="8" name="Rounded Rectangle 7"/>
          <p:cNvSpPr/>
          <p:nvPr/>
        </p:nvSpPr>
        <p:spPr>
          <a:xfrm>
            <a:off x="6217920" y="2194560"/>
            <a:ext cx="5212080" cy="4114800"/>
          </a:xfrm>
          <a:prstGeom prst="roundRect">
            <a:avLst/>
          </a:prstGeom>
          <a:solidFill>
            <a:srgbClr val="111827"/>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2377440"/>
            <a:ext cx="4846320" cy="3749039"/>
          </a:xfrm>
          <a:prstGeom prst="rect">
            <a:avLst/>
          </a:prstGeom>
          <a:noFill/>
        </p:spPr>
        <p:txBody>
          <a:bodyPr wrap="square">
            <a:spAutoFit/>
          </a:bodyPr>
          <a:lstStyle/>
          <a:p>
            <a:pPr>
              <a:defRPr sz="1100" b="1">
                <a:solidFill>
                  <a:srgbClr val="38BDF8"/>
                </a:solidFill>
              </a:defRPr>
            </a:pPr>
            <a:r>
              <a:t>🎯 Learner Configuration Interface</a:t>
            </a:r>
          </a:p>
          <a:p>
            <a:pPr>
              <a:spcBef>
                <a:spcPts val="1200"/>
              </a:spcBef>
              <a:defRPr sz="1400" b="1">
                <a:solidFill>
                  <a:srgbClr val="34D399"/>
                </a:solidFill>
              </a:defRPr>
            </a:pPr>
            <a:r>
              <a:t>✨ Any Topic Input</a:t>
            </a:r>
          </a:p>
          <a:p>
            <a:pPr>
              <a:spcBef>
                <a:spcPts val="200"/>
              </a:spcBef>
              <a:defRPr sz="1200">
                <a:solidFill>
                  <a:srgbClr val="94A3B8"/>
                </a:solidFill>
              </a:defRPr>
            </a:pPr>
            <a:r>
              <a:t>Free text + Quick chips (Python loops, SQL joins, Photosynthesis)</a:t>
            </a:r>
          </a:p>
          <a:p>
            <a:pPr>
              <a:spcBef>
                <a:spcPts val="1200"/>
              </a:spcBef>
              <a:defRPr sz="1400" b="1">
                <a:solidFill>
                  <a:srgbClr val="34D399"/>
                </a:solidFill>
              </a:defRPr>
            </a:pPr>
            <a:r>
              <a:t>⏱️ Precision Budget</a:t>
            </a:r>
          </a:p>
          <a:p>
            <a:pPr>
              <a:spcBef>
                <a:spcPts val="200"/>
              </a:spcBef>
              <a:defRPr sz="1200">
                <a:solidFill>
                  <a:srgbClr val="94A3B8"/>
                </a:solidFill>
              </a:defRPr>
            </a:pPr>
            <a:r>
              <a:t>Portions 6 sections (Intro, Explain, Example, Practice, Quiz, Recap)</a:t>
            </a:r>
          </a:p>
          <a:p>
            <a:pPr>
              <a:spcBef>
                <a:spcPts val="1200"/>
              </a:spcBef>
              <a:defRPr sz="1400" b="1">
                <a:solidFill>
                  <a:srgbClr val="34D399"/>
                </a:solidFill>
              </a:defRPr>
            </a:pPr>
            <a:r>
              <a:t>🌐 Regional Support</a:t>
            </a:r>
          </a:p>
          <a:p>
            <a:pPr>
              <a:spcBef>
                <a:spcPts val="200"/>
              </a:spcBef>
              <a:defRPr sz="1200">
                <a:solidFill>
                  <a:srgbClr val="94A3B8"/>
                </a:solidFill>
              </a:defRPr>
            </a:pPr>
            <a:r>
              <a:t>Authentic vernacular cues while code syntax stays in English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4572000" cy="365760"/>
          </a:xfrm>
          <a:prstGeom prst="rect">
            <a:avLst/>
          </a:prstGeom>
          <a:noFill/>
        </p:spPr>
        <p:txBody>
          <a:bodyPr wrap="square">
            <a:spAutoFit/>
          </a:bodyPr>
          <a:lstStyle/>
          <a:p>
            <a:pPr>
              <a:defRPr sz="1100" b="1">
                <a:solidFill>
                  <a:srgbClr val="38BDF8"/>
                </a:solidFill>
              </a:defRPr>
            </a:pPr>
            <a:r>
              <a:t>✦ THE ADAPTIVE LOOP  |  SLIDE 4 OF 7</a:t>
            </a:r>
          </a:p>
        </p:txBody>
      </p:sp>
      <p:sp>
        <p:nvSpPr>
          <p:cNvPr id="4" name="TextBox 3"/>
          <p:cNvSpPr txBox="1"/>
          <p:nvPr/>
        </p:nvSpPr>
        <p:spPr>
          <a:xfrm>
            <a:off x="6858000" y="411480"/>
            <a:ext cx="4572000" cy="365760"/>
          </a:xfrm>
          <a:prstGeom prst="rect">
            <a:avLst/>
          </a:prstGeom>
          <a:noFill/>
        </p:spPr>
        <p:txBody>
          <a:bodyPr wrap="square">
            <a:spAutoFit/>
          </a:bodyPr>
          <a:lstStyle/>
          <a:p>
            <a:pPr algn="r">
              <a:defRPr sz="1000" b="1">
                <a:solidFill>
                  <a:srgbClr val="94A3B8"/>
                </a:solidFill>
              </a:defRPr>
            </a:pPr>
            <a:r>
              <a:t>TEAM NOVA STACK  •  PROMPT TO PRODUCTION</a:t>
            </a:r>
          </a:p>
        </p:txBody>
      </p:sp>
      <p:sp>
        <p:nvSpPr>
          <p:cNvPr id="5" name="TextBox 4"/>
          <p:cNvSpPr txBox="1"/>
          <p:nvPr/>
        </p:nvSpPr>
        <p:spPr>
          <a:xfrm>
            <a:off x="731520" y="822960"/>
            <a:ext cx="10698480" cy="1188720"/>
          </a:xfrm>
          <a:prstGeom prst="rect">
            <a:avLst/>
          </a:prstGeom>
          <a:noFill/>
        </p:spPr>
        <p:txBody>
          <a:bodyPr wrap="square">
            <a:spAutoFit/>
          </a:bodyPr>
          <a:lstStyle/>
          <a:p>
            <a:pPr>
              <a:defRPr sz="3600" b="1">
                <a:solidFill>
                  <a:srgbClr val="F8FAFC"/>
                </a:solidFill>
              </a:defRPr>
            </a:pPr>
            <a:r>
              <a:t>Code Decides. AI Explains.</a:t>
            </a:r>
          </a:p>
          <a:p>
            <a:pPr>
              <a:spcBef>
                <a:spcPts val="400"/>
              </a:spcBef>
              <a:defRPr sz="1600">
                <a:solidFill>
                  <a:srgbClr val="38BDF8"/>
                </a:solidFill>
              </a:defRPr>
            </a:pPr>
            <a:r>
              <a:t>The Deterministic Pedagogical State Machine</a:t>
            </a:r>
          </a:p>
        </p:txBody>
      </p:sp>
      <p:sp>
        <p:nvSpPr>
          <p:cNvPr id="6" name="Rounded Rectangle 5"/>
          <p:cNvSpPr/>
          <p:nvPr/>
        </p:nvSpPr>
        <p:spPr>
          <a:xfrm>
            <a:off x="731520" y="2194560"/>
            <a:ext cx="5212080" cy="4114800"/>
          </a:xfrm>
          <a:prstGeom prst="roundRect">
            <a:avLst/>
          </a:prstGeom>
          <a:solidFill>
            <a:srgbClr val="111827"/>
          </a:solidFill>
          <a:ln w="1905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77440"/>
            <a:ext cx="4846320" cy="3749039"/>
          </a:xfrm>
          <a:prstGeom prst="rect">
            <a:avLst/>
          </a:prstGeom>
          <a:noFill/>
        </p:spPr>
        <p:txBody>
          <a:bodyPr wrap="square">
            <a:spAutoFit/>
          </a:bodyPr>
          <a:lstStyle/>
          <a:p>
            <a:pPr>
              <a:defRPr sz="1100" b="1">
                <a:solidFill>
                  <a:srgbClr val="818CF8"/>
                </a:solidFill>
              </a:defRPr>
            </a:pPr>
            <a:r>
              <a:t>KEY TAKEAWAYS</a:t>
            </a:r>
          </a:p>
          <a:p>
            <a:pPr>
              <a:lnSpc>
                <a:spcPct val="125000"/>
              </a:lnSpc>
              <a:spcBef>
                <a:spcPts val="2000"/>
              </a:spcBef>
              <a:defRPr sz="1550">
                <a:solidFill>
                  <a:srgbClr val="F8FAFC"/>
                </a:solidFill>
              </a:defRPr>
            </a:pPr>
            <a:r>
              <a:t>•  Deterministic code drives decisions; AI writes explanations.</a:t>
            </a:r>
          </a:p>
          <a:p>
            <a:pPr>
              <a:lnSpc>
                <a:spcPct val="125000"/>
              </a:lnSpc>
              <a:spcBef>
                <a:spcPts val="2000"/>
              </a:spcBef>
              <a:defRPr sz="1550">
                <a:solidFill>
                  <a:srgbClr val="F8FAFC"/>
                </a:solidFill>
              </a:defRPr>
            </a:pPr>
            <a:r>
              <a:t>•  Closed loop: Lesson, Quiz, Mastery, then Remediation.</a:t>
            </a:r>
          </a:p>
          <a:p>
            <a:pPr>
              <a:lnSpc>
                <a:spcPct val="125000"/>
              </a:lnSpc>
              <a:spcBef>
                <a:spcPts val="2000"/>
              </a:spcBef>
              <a:defRPr sz="1550">
                <a:solidFill>
                  <a:srgbClr val="F8FAFC"/>
                </a:solidFill>
              </a:defRPr>
            </a:pPr>
            <a:r>
              <a:t>•  Halts progression until misconceptions are actively cured.</a:t>
            </a:r>
          </a:p>
        </p:txBody>
      </p:sp>
      <p:sp>
        <p:nvSpPr>
          <p:cNvPr id="8" name="Rounded Rectangle 7"/>
          <p:cNvSpPr/>
          <p:nvPr/>
        </p:nvSpPr>
        <p:spPr>
          <a:xfrm>
            <a:off x="6217920" y="2194560"/>
            <a:ext cx="5212080" cy="4114800"/>
          </a:xfrm>
          <a:prstGeom prst="roundRect">
            <a:avLst/>
          </a:prstGeom>
          <a:solidFill>
            <a:srgbClr val="111827"/>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2377440"/>
            <a:ext cx="4846320" cy="3749039"/>
          </a:xfrm>
          <a:prstGeom prst="rect">
            <a:avLst/>
          </a:prstGeom>
          <a:noFill/>
        </p:spPr>
        <p:txBody>
          <a:bodyPr wrap="square">
            <a:spAutoFit/>
          </a:bodyPr>
          <a:lstStyle/>
          <a:p>
            <a:pPr>
              <a:defRPr sz="1100" b="1">
                <a:solidFill>
                  <a:srgbClr val="38BDF8"/>
                </a:solidFill>
              </a:defRPr>
            </a:pPr>
            <a:r>
              <a:t>🔄 The Continuous Quality Flywheel</a:t>
            </a:r>
          </a:p>
          <a:p>
            <a:pPr>
              <a:spcBef>
                <a:spcPts val="1200"/>
              </a:spcBef>
              <a:defRPr sz="1400" b="1">
                <a:solidFill>
                  <a:srgbClr val="34D399"/>
                </a:solidFill>
              </a:defRPr>
            </a:pPr>
            <a:r>
              <a:t>1. Time-Boxed Lesson</a:t>
            </a:r>
          </a:p>
          <a:p>
            <a:pPr>
              <a:spcBef>
                <a:spcPts val="200"/>
              </a:spcBef>
              <a:defRPr sz="1200">
                <a:solidFill>
                  <a:srgbClr val="94A3B8"/>
                </a:solidFill>
              </a:defRPr>
            </a:pPr>
            <a:r>
              <a:t>Portioned sections with embedded interactive micro-simulators</a:t>
            </a:r>
          </a:p>
          <a:p>
            <a:pPr>
              <a:spcBef>
                <a:spcPts val="1200"/>
              </a:spcBef>
              <a:defRPr sz="1400" b="1">
                <a:solidFill>
                  <a:srgbClr val="34D399"/>
                </a:solidFill>
              </a:defRPr>
            </a:pPr>
            <a:r>
              <a:t>2. 5-Question Checkpoint</a:t>
            </a:r>
          </a:p>
          <a:p>
            <a:pPr>
              <a:spcBef>
                <a:spcPts val="200"/>
              </a:spcBef>
              <a:defRPr sz="1200">
                <a:solidFill>
                  <a:srgbClr val="94A3B8"/>
                </a:solidFill>
              </a:defRPr>
            </a:pPr>
            <a:r>
              <a:t>Targeted quiz items tied strictly to evaluated concept keys</a:t>
            </a:r>
          </a:p>
          <a:p>
            <a:pPr>
              <a:spcBef>
                <a:spcPts val="1200"/>
              </a:spcBef>
              <a:defRPr sz="1400" b="1">
                <a:solidFill>
                  <a:srgbClr val="34D399"/>
                </a:solidFill>
              </a:defRPr>
            </a:pPr>
            <a:r>
              <a:t>3. SQLite Mastery EMA</a:t>
            </a:r>
          </a:p>
          <a:p>
            <a:pPr>
              <a:spcBef>
                <a:spcPts val="200"/>
              </a:spcBef>
              <a:defRPr sz="1200">
                <a:solidFill>
                  <a:srgbClr val="94A3B8"/>
                </a:solidFill>
              </a:defRPr>
            </a:pPr>
            <a:r>
              <a:t>Calculates mastery: mastery += 0.3 * (outcome - mastery)</a:t>
            </a:r>
          </a:p>
          <a:p>
            <a:pPr>
              <a:spcBef>
                <a:spcPts val="1200"/>
              </a:spcBef>
              <a:defRPr sz="1400" b="1">
                <a:solidFill>
                  <a:srgbClr val="34D399"/>
                </a:solidFill>
              </a:defRPr>
            </a:pPr>
            <a:r>
              <a:t>4. Adaptive Sprint</a:t>
            </a:r>
          </a:p>
          <a:p>
            <a:pPr>
              <a:spcBef>
                <a:spcPts val="200"/>
              </a:spcBef>
              <a:defRPr sz="1200">
                <a:solidFill>
                  <a:srgbClr val="94A3B8"/>
                </a:solidFill>
              </a:defRPr>
            </a:pPr>
            <a:r>
              <a:t>If mastery &lt; 0.6, next lesson restructures around blindspot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4572000" cy="365760"/>
          </a:xfrm>
          <a:prstGeom prst="rect">
            <a:avLst/>
          </a:prstGeom>
          <a:noFill/>
        </p:spPr>
        <p:txBody>
          <a:bodyPr wrap="square">
            <a:spAutoFit/>
          </a:bodyPr>
          <a:lstStyle/>
          <a:p>
            <a:pPr>
              <a:defRPr sz="1100" b="1">
                <a:solidFill>
                  <a:srgbClr val="38BDF8"/>
                </a:solidFill>
              </a:defRPr>
            </a:pPr>
            <a:r>
              <a:t>✦ SYSTEM ARCHITECTURE  |  SLIDE 5 OF 7</a:t>
            </a:r>
          </a:p>
        </p:txBody>
      </p:sp>
      <p:sp>
        <p:nvSpPr>
          <p:cNvPr id="4" name="TextBox 3"/>
          <p:cNvSpPr txBox="1"/>
          <p:nvPr/>
        </p:nvSpPr>
        <p:spPr>
          <a:xfrm>
            <a:off x="6858000" y="411480"/>
            <a:ext cx="4572000" cy="365760"/>
          </a:xfrm>
          <a:prstGeom prst="rect">
            <a:avLst/>
          </a:prstGeom>
          <a:noFill/>
        </p:spPr>
        <p:txBody>
          <a:bodyPr wrap="square">
            <a:spAutoFit/>
          </a:bodyPr>
          <a:lstStyle/>
          <a:p>
            <a:pPr algn="r">
              <a:defRPr sz="1000" b="1">
                <a:solidFill>
                  <a:srgbClr val="94A3B8"/>
                </a:solidFill>
              </a:defRPr>
            </a:pPr>
            <a:r>
              <a:t>TEAM NOVA STACK  •  PROMPT TO PRODUCTION</a:t>
            </a:r>
          </a:p>
        </p:txBody>
      </p:sp>
      <p:sp>
        <p:nvSpPr>
          <p:cNvPr id="5" name="TextBox 4"/>
          <p:cNvSpPr txBox="1"/>
          <p:nvPr/>
        </p:nvSpPr>
        <p:spPr>
          <a:xfrm>
            <a:off x="731520" y="822960"/>
            <a:ext cx="10698480" cy="1188720"/>
          </a:xfrm>
          <a:prstGeom prst="rect">
            <a:avLst/>
          </a:prstGeom>
          <a:noFill/>
        </p:spPr>
        <p:txBody>
          <a:bodyPr wrap="square">
            <a:spAutoFit/>
          </a:bodyPr>
          <a:lstStyle/>
          <a:p>
            <a:pPr>
              <a:defRPr sz="3600" b="1">
                <a:solidFill>
                  <a:srgbClr val="F8FAFC"/>
                </a:solidFill>
              </a:defRPr>
            </a:pPr>
            <a:r>
              <a:t>Production-Grade Reliability</a:t>
            </a:r>
          </a:p>
          <a:p>
            <a:pPr>
              <a:spcBef>
                <a:spcPts val="400"/>
              </a:spcBef>
              <a:defRPr sz="1600">
                <a:solidFill>
                  <a:srgbClr val="38BDF8"/>
                </a:solidFill>
              </a:defRPr>
            </a:pPr>
            <a:r>
              <a:t>Engineered for Resilience, Speed, and Zero Crashes</a:t>
            </a:r>
          </a:p>
        </p:txBody>
      </p:sp>
      <p:sp>
        <p:nvSpPr>
          <p:cNvPr id="6" name="Rounded Rectangle 5"/>
          <p:cNvSpPr/>
          <p:nvPr/>
        </p:nvSpPr>
        <p:spPr>
          <a:xfrm>
            <a:off x="731520" y="2194560"/>
            <a:ext cx="5212080" cy="4114800"/>
          </a:xfrm>
          <a:prstGeom prst="roundRect">
            <a:avLst/>
          </a:prstGeom>
          <a:solidFill>
            <a:srgbClr val="111827"/>
          </a:solidFill>
          <a:ln w="1905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77440"/>
            <a:ext cx="4846320" cy="3749039"/>
          </a:xfrm>
          <a:prstGeom prst="rect">
            <a:avLst/>
          </a:prstGeom>
          <a:noFill/>
        </p:spPr>
        <p:txBody>
          <a:bodyPr wrap="square">
            <a:spAutoFit/>
          </a:bodyPr>
          <a:lstStyle/>
          <a:p>
            <a:pPr>
              <a:defRPr sz="1100" b="1">
                <a:solidFill>
                  <a:srgbClr val="818CF8"/>
                </a:solidFill>
              </a:defRPr>
            </a:pPr>
            <a:r>
              <a:t>KEY TAKEAWAYS</a:t>
            </a:r>
          </a:p>
          <a:p>
            <a:pPr>
              <a:lnSpc>
                <a:spcPct val="125000"/>
              </a:lnSpc>
              <a:spcBef>
                <a:spcPts val="2000"/>
              </a:spcBef>
              <a:defRPr sz="1550">
                <a:solidFill>
                  <a:srgbClr val="F8FAFC"/>
                </a:solidFill>
              </a:defRPr>
            </a:pPr>
            <a:r>
              <a:t>•  Streamlit UI featuring interactive execution visualizers.</a:t>
            </a:r>
          </a:p>
          <a:p>
            <a:pPr>
              <a:lnSpc>
                <a:spcPct val="125000"/>
              </a:lnSpc>
              <a:spcBef>
                <a:spcPts val="2000"/>
              </a:spcBef>
              <a:defRPr sz="1550">
                <a:solidFill>
                  <a:srgbClr val="F8FAFC"/>
                </a:solidFill>
              </a:defRPr>
            </a:pPr>
            <a:r>
              <a:t>•  Gemini JSON mode validated with strict Pydantic schemas.</a:t>
            </a:r>
          </a:p>
          <a:p>
            <a:pPr>
              <a:lnSpc>
                <a:spcPct val="125000"/>
              </a:lnSpc>
              <a:spcBef>
                <a:spcPts val="2000"/>
              </a:spcBef>
              <a:defRPr sz="1550">
                <a:solidFill>
                  <a:srgbClr val="F8FAFC"/>
                </a:solidFill>
              </a:defRPr>
            </a:pPr>
            <a:r>
              <a:t>•  SQLite EMA tracker calculating concept mastery updates.</a:t>
            </a:r>
          </a:p>
        </p:txBody>
      </p:sp>
      <p:sp>
        <p:nvSpPr>
          <p:cNvPr id="8" name="Rounded Rectangle 7"/>
          <p:cNvSpPr/>
          <p:nvPr/>
        </p:nvSpPr>
        <p:spPr>
          <a:xfrm>
            <a:off x="6217920" y="2194560"/>
            <a:ext cx="5212080" cy="4114800"/>
          </a:xfrm>
          <a:prstGeom prst="roundRect">
            <a:avLst/>
          </a:prstGeom>
          <a:solidFill>
            <a:srgbClr val="111827"/>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2377440"/>
            <a:ext cx="4846320" cy="3749039"/>
          </a:xfrm>
          <a:prstGeom prst="rect">
            <a:avLst/>
          </a:prstGeom>
          <a:noFill/>
        </p:spPr>
        <p:txBody>
          <a:bodyPr wrap="square">
            <a:spAutoFit/>
          </a:bodyPr>
          <a:lstStyle/>
          <a:p>
            <a:pPr>
              <a:defRPr sz="1100" b="1">
                <a:solidFill>
                  <a:srgbClr val="38BDF8"/>
                </a:solidFill>
              </a:defRPr>
            </a:pPr>
            <a:r>
              <a:t>🏗️ Full Stack Architecture</a:t>
            </a:r>
          </a:p>
          <a:p>
            <a:pPr>
              <a:spcBef>
                <a:spcPts val="1200"/>
              </a:spcBef>
              <a:defRPr sz="1400" b="1">
                <a:solidFill>
                  <a:srgbClr val="34D399"/>
                </a:solidFill>
              </a:defRPr>
            </a:pPr>
            <a:r>
              <a:t>🖥️ Streamlit Frontend</a:t>
            </a:r>
          </a:p>
          <a:p>
            <a:pPr>
              <a:spcBef>
                <a:spcPts val="200"/>
              </a:spcBef>
              <a:defRPr sz="1200">
                <a:solidFill>
                  <a:srgbClr val="94A3B8"/>
                </a:solidFill>
              </a:defRPr>
            </a:pPr>
            <a:r>
              <a:t>SaaS design, dark theme, Range Visualizer &amp; Step Stepper</a:t>
            </a:r>
          </a:p>
          <a:p>
            <a:pPr>
              <a:spcBef>
                <a:spcPts val="1200"/>
              </a:spcBef>
              <a:defRPr sz="1400" b="1">
                <a:solidFill>
                  <a:srgbClr val="34D399"/>
                </a:solidFill>
              </a:defRPr>
            </a:pPr>
            <a:r>
              <a:t>🤖 Gemini 1.5 Flash</a:t>
            </a:r>
          </a:p>
          <a:p>
            <a:pPr>
              <a:spcBef>
                <a:spcPts val="200"/>
              </a:spcBef>
              <a:defRPr sz="1200">
                <a:solidFill>
                  <a:srgbClr val="94A3B8"/>
                </a:solidFill>
              </a:defRPr>
            </a:pPr>
            <a:r>
              <a:t>JSON mode, Pydantic validation, single retry &amp; graceful fallback</a:t>
            </a:r>
          </a:p>
          <a:p>
            <a:pPr>
              <a:spcBef>
                <a:spcPts val="1200"/>
              </a:spcBef>
              <a:defRPr sz="1400" b="1">
                <a:solidFill>
                  <a:srgbClr val="34D399"/>
                </a:solidFill>
              </a:defRPr>
            </a:pPr>
            <a:r>
              <a:t>🗄️ SQLite Engine</a:t>
            </a:r>
          </a:p>
          <a:p>
            <a:pPr>
              <a:spcBef>
                <a:spcPts val="200"/>
              </a:spcBef>
              <a:defRPr sz="1200">
                <a:solidFill>
                  <a:srgbClr val="94A3B8"/>
                </a:solidFill>
              </a:defRPr>
            </a:pPr>
            <a:r>
              <a:t>Compound primary key (topic, concept_id) preventing cross-topic leaks</a:t>
            </a:r>
          </a:p>
          <a:p>
            <a:pPr>
              <a:spcBef>
                <a:spcPts val="1200"/>
              </a:spcBef>
              <a:defRPr sz="1400" b="1">
                <a:solidFill>
                  <a:srgbClr val="34D399"/>
                </a:solidFill>
              </a:defRPr>
            </a:pPr>
            <a:r>
              <a:t>⚡ Local Disk Cache</a:t>
            </a:r>
          </a:p>
          <a:p>
            <a:pPr>
              <a:spcBef>
                <a:spcPts val="200"/>
              </a:spcBef>
              <a:defRPr sz="1200">
                <a:solidFill>
                  <a:srgbClr val="94A3B8"/>
                </a:solidFill>
              </a:defRPr>
            </a:pPr>
            <a:r>
              <a:t>Cache by topic+level+language+minutes+weak_concept in cache/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4572000" cy="365760"/>
          </a:xfrm>
          <a:prstGeom prst="rect">
            <a:avLst/>
          </a:prstGeom>
          <a:noFill/>
        </p:spPr>
        <p:txBody>
          <a:bodyPr wrap="square">
            <a:spAutoFit/>
          </a:bodyPr>
          <a:lstStyle/>
          <a:p>
            <a:pPr>
              <a:defRPr sz="1100" b="1">
                <a:solidFill>
                  <a:srgbClr val="38BDF8"/>
                </a:solidFill>
              </a:defRPr>
            </a:pPr>
            <a:r>
              <a:t>✦ DEMO IN ACTION  |  SLIDE 6 OF 7</a:t>
            </a:r>
          </a:p>
        </p:txBody>
      </p:sp>
      <p:sp>
        <p:nvSpPr>
          <p:cNvPr id="4" name="TextBox 3"/>
          <p:cNvSpPr txBox="1"/>
          <p:nvPr/>
        </p:nvSpPr>
        <p:spPr>
          <a:xfrm>
            <a:off x="6858000" y="411480"/>
            <a:ext cx="4572000" cy="365760"/>
          </a:xfrm>
          <a:prstGeom prst="rect">
            <a:avLst/>
          </a:prstGeom>
          <a:noFill/>
        </p:spPr>
        <p:txBody>
          <a:bodyPr wrap="square">
            <a:spAutoFit/>
          </a:bodyPr>
          <a:lstStyle/>
          <a:p>
            <a:pPr algn="r">
              <a:defRPr sz="1000" b="1">
                <a:solidFill>
                  <a:srgbClr val="94A3B8"/>
                </a:solidFill>
              </a:defRPr>
            </a:pPr>
            <a:r>
              <a:t>TEAM NOVA STACK  •  PROMPT TO PRODUCTION</a:t>
            </a:r>
          </a:p>
        </p:txBody>
      </p:sp>
      <p:sp>
        <p:nvSpPr>
          <p:cNvPr id="5" name="TextBox 4"/>
          <p:cNvSpPr txBox="1"/>
          <p:nvPr/>
        </p:nvSpPr>
        <p:spPr>
          <a:xfrm>
            <a:off x="731520" y="822960"/>
            <a:ext cx="10698480" cy="1188720"/>
          </a:xfrm>
          <a:prstGeom prst="rect">
            <a:avLst/>
          </a:prstGeom>
          <a:noFill/>
        </p:spPr>
        <p:txBody>
          <a:bodyPr wrap="square">
            <a:spAutoFit/>
          </a:bodyPr>
          <a:lstStyle/>
          <a:p>
            <a:pPr>
              <a:defRPr sz="3600" b="1">
                <a:solidFill>
                  <a:srgbClr val="F8FAFC"/>
                </a:solidFill>
              </a:defRPr>
            </a:pPr>
            <a:r>
              <a:t>Diagnosing &amp; Curing Mistakes</a:t>
            </a:r>
          </a:p>
          <a:p>
            <a:pPr>
              <a:spcBef>
                <a:spcPts val="400"/>
              </a:spcBef>
              <a:defRPr sz="1600">
                <a:solidFill>
                  <a:srgbClr val="38BDF8"/>
                </a:solidFill>
              </a:defRPr>
            </a:pPr>
            <a:r>
              <a:t>From Cognitive Slip to Permanent Mastery</a:t>
            </a:r>
          </a:p>
        </p:txBody>
      </p:sp>
      <p:sp>
        <p:nvSpPr>
          <p:cNvPr id="6" name="Rounded Rectangle 5"/>
          <p:cNvSpPr/>
          <p:nvPr/>
        </p:nvSpPr>
        <p:spPr>
          <a:xfrm>
            <a:off x="731520" y="2194560"/>
            <a:ext cx="5212080" cy="4114800"/>
          </a:xfrm>
          <a:prstGeom prst="roundRect">
            <a:avLst/>
          </a:prstGeom>
          <a:solidFill>
            <a:srgbClr val="111827"/>
          </a:solidFill>
          <a:ln w="1905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77440"/>
            <a:ext cx="4846320" cy="3749039"/>
          </a:xfrm>
          <a:prstGeom prst="rect">
            <a:avLst/>
          </a:prstGeom>
          <a:noFill/>
        </p:spPr>
        <p:txBody>
          <a:bodyPr wrap="square">
            <a:spAutoFit/>
          </a:bodyPr>
          <a:lstStyle/>
          <a:p>
            <a:pPr>
              <a:defRPr sz="1100" b="1">
                <a:solidFill>
                  <a:srgbClr val="818CF8"/>
                </a:solidFill>
              </a:defRPr>
            </a:pPr>
            <a:r>
              <a:t>KEY TAKEAWAYS</a:t>
            </a:r>
          </a:p>
          <a:p>
            <a:pPr>
              <a:lnSpc>
                <a:spcPct val="125000"/>
              </a:lnSpc>
              <a:spcBef>
                <a:spcPts val="2000"/>
              </a:spcBef>
              <a:defRPr sz="1550">
                <a:solidFill>
                  <a:srgbClr val="F8FAFC"/>
                </a:solidFill>
              </a:defRPr>
            </a:pPr>
            <a:r>
              <a:t>•  Student selects Python loops; misses exclusive range bound.</a:t>
            </a:r>
          </a:p>
          <a:p>
            <a:pPr>
              <a:lnSpc>
                <a:spcPct val="125000"/>
              </a:lnSpc>
              <a:spcBef>
                <a:spcPts val="2000"/>
              </a:spcBef>
              <a:defRPr sz="1550">
                <a:solidFill>
                  <a:srgbClr val="F8FAFC"/>
                </a:solidFill>
              </a:defRPr>
            </a:pPr>
            <a:r>
              <a:t>•  Engine isolates range_bounds weakness below threshold.</a:t>
            </a:r>
          </a:p>
          <a:p>
            <a:pPr>
              <a:lnSpc>
                <a:spcPct val="125000"/>
              </a:lnSpc>
              <a:spcBef>
                <a:spcPts val="2000"/>
              </a:spcBef>
              <a:defRPr sz="1550">
                <a:solidFill>
                  <a:srgbClr val="F8FAFC"/>
                </a:solidFill>
              </a:defRPr>
            </a:pPr>
            <a:r>
              <a:t>•  Remedial lesson injects 'Your Mistake' box and traces.</a:t>
            </a:r>
          </a:p>
        </p:txBody>
      </p:sp>
      <p:sp>
        <p:nvSpPr>
          <p:cNvPr id="8" name="Rounded Rectangle 7"/>
          <p:cNvSpPr/>
          <p:nvPr/>
        </p:nvSpPr>
        <p:spPr>
          <a:xfrm>
            <a:off x="6217920" y="2194560"/>
            <a:ext cx="5212080" cy="4114800"/>
          </a:xfrm>
          <a:prstGeom prst="roundRect">
            <a:avLst/>
          </a:prstGeom>
          <a:solidFill>
            <a:srgbClr val="111827"/>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2377440"/>
            <a:ext cx="4846320" cy="3749039"/>
          </a:xfrm>
          <a:prstGeom prst="rect">
            <a:avLst/>
          </a:prstGeom>
          <a:noFill/>
        </p:spPr>
        <p:txBody>
          <a:bodyPr wrap="square">
            <a:spAutoFit/>
          </a:bodyPr>
          <a:lstStyle/>
          <a:p>
            <a:pPr>
              <a:defRPr sz="1100" b="1">
                <a:solidFill>
                  <a:srgbClr val="38BDF8"/>
                </a:solidFill>
              </a:defRPr>
            </a:pPr>
            <a:r>
              <a:t>🔬 Live Diagnostic Flow</a:t>
            </a:r>
          </a:p>
          <a:p>
            <a:pPr>
              <a:spcBef>
                <a:spcPts val="1200"/>
              </a:spcBef>
              <a:defRPr sz="1400" b="1">
                <a:solidFill>
                  <a:srgbClr val="34D399"/>
                </a:solidFill>
              </a:defRPr>
            </a:pPr>
            <a:r>
              <a:t>1. Checkpoint Miss</a:t>
            </a:r>
          </a:p>
          <a:p>
            <a:pPr>
              <a:spcBef>
                <a:spcPts val="200"/>
              </a:spcBef>
              <a:defRPr sz="1200">
                <a:solidFill>
                  <a:srgbClr val="94A3B8"/>
                </a:solidFill>
              </a:defRPr>
            </a:pPr>
            <a:r>
              <a:t>User assumes range(0, 5) yields 5. Outcome = 0.0</a:t>
            </a:r>
          </a:p>
          <a:p>
            <a:pPr>
              <a:spcBef>
                <a:spcPts val="1200"/>
              </a:spcBef>
              <a:defRPr sz="1400" b="1">
                <a:solidFill>
                  <a:srgbClr val="34D399"/>
                </a:solidFill>
              </a:defRPr>
            </a:pPr>
            <a:r>
              <a:t>2. Mastery Plunge</a:t>
            </a:r>
          </a:p>
          <a:p>
            <a:pPr>
              <a:spcBef>
                <a:spcPts val="200"/>
              </a:spcBef>
              <a:defRPr sz="1200">
                <a:solidFill>
                  <a:srgbClr val="94A3B8"/>
                </a:solidFill>
              </a:defRPr>
            </a:pPr>
            <a:r>
              <a:t>Mastery drops: 0.5 -&gt; 0.35. Weak concept diagnosed: range_bounds</a:t>
            </a:r>
          </a:p>
          <a:p>
            <a:pPr>
              <a:spcBef>
                <a:spcPts val="1200"/>
              </a:spcBef>
              <a:defRPr sz="1400" b="1">
                <a:solidFill>
                  <a:srgbClr val="34D399"/>
                </a:solidFill>
              </a:defRPr>
            </a:pPr>
            <a:r>
              <a:t>3. 'Your Mistake' Card</a:t>
            </a:r>
          </a:p>
          <a:p>
            <a:pPr>
              <a:spcBef>
                <a:spcPts val="200"/>
              </a:spcBef>
              <a:defRPr sz="1200">
                <a:solidFill>
                  <a:srgbClr val="94A3B8"/>
                </a:solidFill>
              </a:defRPr>
            </a:pPr>
            <a:r>
              <a:t>Explains exact error, student choice vs correct answer</a:t>
            </a:r>
          </a:p>
          <a:p>
            <a:pPr>
              <a:spcBef>
                <a:spcPts val="1200"/>
              </a:spcBef>
              <a:defRPr sz="1400" b="1">
                <a:solidFill>
                  <a:srgbClr val="34D399"/>
                </a:solidFill>
              </a:defRPr>
            </a:pPr>
            <a:r>
              <a:t>4. Execution Trace</a:t>
            </a:r>
          </a:p>
          <a:p>
            <a:pPr>
              <a:spcBef>
                <a:spcPts val="200"/>
              </a:spcBef>
              <a:defRPr sz="1200">
                <a:solidFill>
                  <a:srgbClr val="94A3B8"/>
                </a:solidFill>
              </a:defRPr>
            </a:pPr>
            <a:r>
              <a:t>Step-by-step table + Stop boundary visualizer halt simulation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4572000" cy="365760"/>
          </a:xfrm>
          <a:prstGeom prst="rect">
            <a:avLst/>
          </a:prstGeom>
          <a:noFill/>
        </p:spPr>
        <p:txBody>
          <a:bodyPr wrap="square">
            <a:spAutoFit/>
          </a:bodyPr>
          <a:lstStyle/>
          <a:p>
            <a:pPr>
              <a:defRPr sz="1100" b="1">
                <a:solidFill>
                  <a:srgbClr val="38BDF8"/>
                </a:solidFill>
              </a:defRPr>
            </a:pPr>
            <a:r>
              <a:t>✦ IMPACT &amp; ROADMAP  |  SLIDE 7 OF 7</a:t>
            </a:r>
          </a:p>
        </p:txBody>
      </p:sp>
      <p:sp>
        <p:nvSpPr>
          <p:cNvPr id="4" name="TextBox 3"/>
          <p:cNvSpPr txBox="1"/>
          <p:nvPr/>
        </p:nvSpPr>
        <p:spPr>
          <a:xfrm>
            <a:off x="6858000" y="411480"/>
            <a:ext cx="4572000" cy="365760"/>
          </a:xfrm>
          <a:prstGeom prst="rect">
            <a:avLst/>
          </a:prstGeom>
          <a:noFill/>
        </p:spPr>
        <p:txBody>
          <a:bodyPr wrap="square">
            <a:spAutoFit/>
          </a:bodyPr>
          <a:lstStyle/>
          <a:p>
            <a:pPr algn="r">
              <a:defRPr sz="1000" b="1">
                <a:solidFill>
                  <a:srgbClr val="94A3B8"/>
                </a:solidFill>
              </a:defRPr>
            </a:pPr>
            <a:r>
              <a:t>TEAM NOVA STACK  •  PROMPT TO PRODUCTION</a:t>
            </a:r>
          </a:p>
        </p:txBody>
      </p:sp>
      <p:sp>
        <p:nvSpPr>
          <p:cNvPr id="5" name="TextBox 4"/>
          <p:cNvSpPr txBox="1"/>
          <p:nvPr/>
        </p:nvSpPr>
        <p:spPr>
          <a:xfrm>
            <a:off x="731520" y="822960"/>
            <a:ext cx="10698480" cy="1188720"/>
          </a:xfrm>
          <a:prstGeom prst="rect">
            <a:avLst/>
          </a:prstGeom>
          <a:noFill/>
        </p:spPr>
        <p:txBody>
          <a:bodyPr wrap="square">
            <a:spAutoFit/>
          </a:bodyPr>
          <a:lstStyle/>
          <a:p>
            <a:pPr>
              <a:defRPr sz="3600" b="1">
                <a:solidFill>
                  <a:srgbClr val="F8FAFC"/>
                </a:solidFill>
              </a:defRPr>
            </a:pPr>
            <a:r>
              <a:t>What's Next for LearnMate</a:t>
            </a:r>
          </a:p>
          <a:p>
            <a:pPr>
              <a:spcBef>
                <a:spcPts val="400"/>
              </a:spcBef>
              <a:defRPr sz="1600">
                <a:solidFill>
                  <a:srgbClr val="38BDF8"/>
                </a:solidFill>
              </a:defRPr>
            </a:pPr>
            <a:r>
              <a:t>Democratizing 1-on-1 Adaptive Tutoring</a:t>
            </a:r>
          </a:p>
        </p:txBody>
      </p:sp>
      <p:sp>
        <p:nvSpPr>
          <p:cNvPr id="6" name="Rounded Rectangle 5"/>
          <p:cNvSpPr/>
          <p:nvPr/>
        </p:nvSpPr>
        <p:spPr>
          <a:xfrm>
            <a:off x="731520" y="2194560"/>
            <a:ext cx="5212080" cy="4114800"/>
          </a:xfrm>
          <a:prstGeom prst="roundRect">
            <a:avLst/>
          </a:prstGeom>
          <a:solidFill>
            <a:srgbClr val="111827"/>
          </a:solidFill>
          <a:ln w="1905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77440"/>
            <a:ext cx="4846320" cy="3749039"/>
          </a:xfrm>
          <a:prstGeom prst="rect">
            <a:avLst/>
          </a:prstGeom>
          <a:noFill/>
        </p:spPr>
        <p:txBody>
          <a:bodyPr wrap="square">
            <a:spAutoFit/>
          </a:bodyPr>
          <a:lstStyle/>
          <a:p>
            <a:pPr>
              <a:defRPr sz="1100" b="1">
                <a:solidFill>
                  <a:srgbClr val="818CF8"/>
                </a:solidFill>
              </a:defRPr>
            </a:pPr>
            <a:r>
              <a:t>KEY TAKEAWAYS</a:t>
            </a:r>
          </a:p>
          <a:p>
            <a:pPr>
              <a:lnSpc>
                <a:spcPct val="125000"/>
              </a:lnSpc>
              <a:spcBef>
                <a:spcPts val="2000"/>
              </a:spcBef>
              <a:defRPr sz="1550">
                <a:solidFill>
                  <a:srgbClr val="F8FAFC"/>
                </a:solidFill>
              </a:defRPr>
            </a:pPr>
            <a:r>
              <a:t>•  Expanded interactive visualizers and additional vernacular languages.</a:t>
            </a:r>
          </a:p>
          <a:p>
            <a:pPr>
              <a:lnSpc>
                <a:spcPct val="125000"/>
              </a:lnSpc>
              <a:spcBef>
                <a:spcPts val="2000"/>
              </a:spcBef>
              <a:defRPr sz="1550">
                <a:solidFill>
                  <a:srgbClr val="F8FAFC"/>
                </a:solidFill>
              </a:defRPr>
            </a:pPr>
            <a:r>
              <a:t>•  Teacher analytics dashboard for classroom-wide blindspot tracking.</a:t>
            </a:r>
          </a:p>
          <a:p>
            <a:pPr>
              <a:lnSpc>
                <a:spcPct val="125000"/>
              </a:lnSpc>
              <a:spcBef>
                <a:spcPts val="2000"/>
              </a:spcBef>
              <a:defRPr sz="1550">
                <a:solidFill>
                  <a:srgbClr val="F8FAFC"/>
                </a:solidFill>
              </a:defRPr>
            </a:pPr>
            <a:r>
              <a:t>•  Hybrid offline edge-model inference with cached fallbacks.</a:t>
            </a:r>
          </a:p>
        </p:txBody>
      </p:sp>
      <p:sp>
        <p:nvSpPr>
          <p:cNvPr id="8" name="Rounded Rectangle 7"/>
          <p:cNvSpPr/>
          <p:nvPr/>
        </p:nvSpPr>
        <p:spPr>
          <a:xfrm>
            <a:off x="6217920" y="2194560"/>
            <a:ext cx="5212080" cy="4114800"/>
          </a:xfrm>
          <a:prstGeom prst="roundRect">
            <a:avLst/>
          </a:prstGeom>
          <a:solidFill>
            <a:srgbClr val="111827"/>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2377440"/>
            <a:ext cx="4846320" cy="3749039"/>
          </a:xfrm>
          <a:prstGeom prst="rect">
            <a:avLst/>
          </a:prstGeom>
          <a:noFill/>
        </p:spPr>
        <p:txBody>
          <a:bodyPr wrap="square">
            <a:spAutoFit/>
          </a:bodyPr>
          <a:lstStyle/>
          <a:p>
            <a:pPr>
              <a:defRPr sz="1100" b="1">
                <a:solidFill>
                  <a:srgbClr val="38BDF8"/>
                </a:solidFill>
              </a:defRPr>
            </a:pPr>
            <a:r>
              <a:t>🚀 Roadmap &amp; Live Demo</a:t>
            </a:r>
          </a:p>
          <a:p>
            <a:pPr>
              <a:spcBef>
                <a:spcPts val="1200"/>
              </a:spcBef>
              <a:defRPr sz="1400" b="1">
                <a:solidFill>
                  <a:srgbClr val="34D399"/>
                </a:solidFill>
              </a:defRPr>
            </a:pPr>
            <a:r>
              <a:t>🎨 Rich Visual Steppers</a:t>
            </a:r>
          </a:p>
          <a:p>
            <a:pPr>
              <a:spcBef>
                <a:spcPts val="200"/>
              </a:spcBef>
              <a:defRPr sz="1200">
                <a:solidFill>
                  <a:srgbClr val="94A3B8"/>
                </a:solidFill>
              </a:defRPr>
            </a:pPr>
            <a:r>
              <a:t>Expanding generic step_viz to dynamic chemistry &amp; history diagrams</a:t>
            </a:r>
          </a:p>
          <a:p>
            <a:pPr>
              <a:spcBef>
                <a:spcPts val="1200"/>
              </a:spcBef>
              <a:defRPr sz="1400" b="1">
                <a:solidFill>
                  <a:srgbClr val="34D399"/>
                </a:solidFill>
              </a:defRPr>
            </a:pPr>
            <a:r>
              <a:t>📊 Classroom Dashboard</a:t>
            </a:r>
          </a:p>
          <a:p>
            <a:pPr>
              <a:spcBef>
                <a:spcPts val="200"/>
              </a:spcBef>
              <a:defRPr sz="1200">
                <a:solidFill>
                  <a:srgbClr val="94A3B8"/>
                </a:solidFill>
              </a:defRPr>
            </a:pPr>
            <a:r>
              <a:t>Aggregated SQLite mastery metrics for school instructors</a:t>
            </a:r>
          </a:p>
          <a:p>
            <a:pPr>
              <a:spcBef>
                <a:spcPts val="1200"/>
              </a:spcBef>
              <a:defRPr sz="1400" b="1">
                <a:solidFill>
                  <a:srgbClr val="34D399"/>
                </a:solidFill>
              </a:defRPr>
            </a:pPr>
            <a:r>
              <a:t>📱 Offline On-Device</a:t>
            </a:r>
          </a:p>
          <a:p>
            <a:pPr>
              <a:spcBef>
                <a:spcPts val="200"/>
              </a:spcBef>
              <a:defRPr sz="1200">
                <a:solidFill>
                  <a:srgbClr val="94A3B8"/>
                </a:solidFill>
              </a:defRPr>
            </a:pPr>
            <a:r>
              <a:t>Ultra-fast local model execution with zero cloud dependency</a:t>
            </a:r>
          </a:p>
          <a:p>
            <a:pPr>
              <a:spcBef>
                <a:spcPts val="1200"/>
              </a:spcBef>
              <a:defRPr sz="1400" b="1">
                <a:solidFill>
                  <a:srgbClr val="34D399"/>
                </a:solidFill>
              </a:defRPr>
            </a:pPr>
            <a:r>
              <a:t>✦ Live Demo Ready</a:t>
            </a:r>
          </a:p>
          <a:p>
            <a:pPr>
              <a:spcBef>
                <a:spcPts val="200"/>
              </a:spcBef>
              <a:defRPr sz="1200">
                <a:solidFill>
                  <a:srgbClr val="94A3B8"/>
                </a:solidFill>
              </a:defRPr>
            </a:pPr>
            <a:r>
              <a:t>Thank You! Experience LearnMate AI live now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